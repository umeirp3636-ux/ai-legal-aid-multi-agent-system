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xP/ybwIK0rMUO2jFO4+GoCrvU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F2BB8E-9C6B-4E9B-B947-D87ABD074BC9}">
  <a:tblStyle styleId="{30F2BB8E-9C6B-4E9B-B947-D87ABD074BC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p:nvPr>
            <p:ph idx="2" type="pic"/>
          </p:nvPr>
        </p:nvSpPr>
        <p:spPr>
          <a:xfrm>
            <a:off x="5183188" y="987425"/>
            <a:ext cx="6172200" cy="4873625"/>
          </a:xfrm>
          <a:prstGeom prst="rect">
            <a:avLst/>
          </a:prstGeom>
          <a:noFill/>
          <a:ln>
            <a:noFill/>
          </a:ln>
        </p:spPr>
      </p:sp>
      <p:sp>
        <p:nvSpPr>
          <p:cNvPr id="58" name="Google Shape;5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IN" sz="6600"/>
              <a:t>IBM University Engagement Project Submission</a:t>
            </a:r>
            <a:br>
              <a:rPr b="1" lang="en-IN"/>
            </a:br>
            <a:endParaRPr/>
          </a:p>
        </p:txBody>
      </p:sp>
      <p:sp>
        <p:nvSpPr>
          <p:cNvPr id="79" name="Google Shape;79;p1"/>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IN"/>
              <a:t>“Exploring the Power of Agentic AI with IBM Cloud and Orchestrate”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800" cy="1992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500" cy="451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{30F2BB8E-9C6B-4E9B-B947-D87ABD074BC9}</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IN"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IN"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2000"/>
                        <a:buFont typeface="Arial"/>
                        <a:buNone/>
                      </a:pPr>
                      <a:r>
                        <a:rPr lang="en-IN" sz="2000" u="none" cap="none" strike="noStrike"/>
                        <a:t>Mohammed Umeir Patel</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IN" sz="2000" u="none" cap="none" strike="noStrike"/>
                        <a:t>umeirp3636</a:t>
                      </a:r>
                      <a:r>
                        <a:rPr lang="en-IN" sz="1400" u="none" cap="none" strike="noStrike"/>
                        <a:t>@gmail.com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IN" sz="2000" u="none" cap="none" strike="noStrike"/>
                        <a:t>9373597210</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4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rgbClr val="000000"/>
                </a:solidFill>
                <a:latin typeface="Arial"/>
                <a:ea typeface="Arial"/>
                <a:cs typeface="Arial"/>
                <a:sym typeface="Arial"/>
              </a:rPr>
              <a:t>Domain of  Project – [Legal Technology</a:t>
            </a:r>
            <a:r>
              <a:rPr b="1" i="0" lang="en-IN" sz="2400" u="none" cap="none" strike="noStrike">
                <a:solidFill>
                  <a:srgbClr val="000000"/>
                </a:solidFill>
                <a:highlight>
                  <a:srgbClr val="FFFF00"/>
                </a:highlight>
                <a:latin typeface="Arial"/>
                <a:ea typeface="Arial"/>
                <a:cs typeface="Arial"/>
                <a:sym typeface="Arial"/>
              </a:rPr>
              <a:t>]</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1206162" y="551965"/>
            <a:ext cx="9581100" cy="45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rgbClr val="000000"/>
                </a:solidFill>
                <a:latin typeface="Arial"/>
                <a:ea typeface="Arial"/>
                <a:cs typeface="Arial"/>
                <a:sym typeface="Arial"/>
              </a:rPr>
              <a:t>Project Tile – </a:t>
            </a:r>
            <a:r>
              <a:rPr b="1" i="0" lang="en-IN" sz="2400" u="none" cap="none" strike="noStrike">
                <a:solidFill>
                  <a:srgbClr val="000000"/>
                </a:solidFill>
                <a:highlight>
                  <a:srgbClr val="FFFF00"/>
                </a:highlight>
                <a:latin typeface="Arial"/>
                <a:ea typeface="Arial"/>
                <a:cs typeface="Arial"/>
                <a:sym typeface="Arial"/>
              </a:rPr>
              <a:t>[AI Legal Aid Multi-Agent System]</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2"/>
          <p:cNvPicPr preferRelativeResize="0"/>
          <p:nvPr/>
        </p:nvPicPr>
        <p:blipFill>
          <a:blip r:embed="rId3">
            <a:alphaModFix/>
          </a:blip>
          <a:stretch>
            <a:fillRect/>
          </a:stretch>
        </p:blipFill>
        <p:spPr>
          <a:xfrm>
            <a:off x="4145950" y="3573550"/>
            <a:ext cx="901283" cy="11938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576075" y="1535100"/>
            <a:ext cx="11616000" cy="53229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800"/>
              </a:spcBef>
              <a:spcAft>
                <a:spcPts val="0"/>
              </a:spcAft>
              <a:buSzPts val="1100"/>
              <a:buNone/>
            </a:pPr>
            <a:r>
              <a:t/>
            </a:r>
            <a:endParaRPr b="1" sz="1700">
              <a:solidFill>
                <a:schemeClr val="dk1"/>
              </a:solidFill>
            </a:endParaRPr>
          </a:p>
          <a:p>
            <a:pPr indent="0" lvl="0" marL="0" rtl="0" algn="l">
              <a:lnSpc>
                <a:spcPct val="115000"/>
              </a:lnSpc>
              <a:spcBef>
                <a:spcPts val="1400"/>
              </a:spcBef>
              <a:spcAft>
                <a:spcPts val="0"/>
              </a:spcAft>
              <a:buSzPts val="1100"/>
              <a:buNone/>
            </a:pPr>
            <a:r>
              <a:rPr b="1" lang="en-IN" sz="1300">
                <a:solidFill>
                  <a:schemeClr val="dk1"/>
                </a:solidFill>
              </a:rPr>
              <a:t>The Challenge</a:t>
            </a:r>
            <a:endParaRPr b="1" sz="1300">
              <a:solidFill>
                <a:schemeClr val="dk1"/>
              </a:solidFill>
            </a:endParaRPr>
          </a:p>
          <a:p>
            <a:pPr indent="0" lvl="0" marL="0" rtl="0" algn="l">
              <a:lnSpc>
                <a:spcPct val="115000"/>
              </a:lnSpc>
              <a:spcBef>
                <a:spcPts val="1200"/>
              </a:spcBef>
              <a:spcAft>
                <a:spcPts val="0"/>
              </a:spcAft>
              <a:buSzPts val="1100"/>
              <a:buNone/>
            </a:pPr>
            <a:r>
              <a:rPr lang="en-IN" sz="1600">
                <a:solidFill>
                  <a:schemeClr val="dk1"/>
                </a:solidFill>
              </a:rPr>
              <a:t>The proposed solution for the </a:t>
            </a:r>
            <a:r>
              <a:rPr b="1" lang="en-IN" sz="1600">
                <a:solidFill>
                  <a:schemeClr val="dk1"/>
                </a:solidFill>
              </a:rPr>
              <a:t>AI Legal Aid Multi-Agent System</a:t>
            </a:r>
            <a:r>
              <a:rPr lang="en-IN" sz="1600">
                <a:solidFill>
                  <a:schemeClr val="dk1"/>
                </a:solidFill>
              </a:rPr>
              <a:t> is to design an intelligent, interactive platform that simplifies access to legal information, document analysis, and compliance guidance for individuals and small businesses. The assistant will integrate </a:t>
            </a:r>
            <a:r>
              <a:rPr b="1" lang="en-IN" sz="1600">
                <a:solidFill>
                  <a:schemeClr val="dk1"/>
                </a:solidFill>
              </a:rPr>
              <a:t>IBM Langflow, IBM Orchestrate, and IBM Models</a:t>
            </a:r>
            <a:r>
              <a:rPr lang="en-IN" sz="1600">
                <a:solidFill>
                  <a:schemeClr val="dk1"/>
                </a:solidFill>
              </a:rPr>
              <a:t> to create a unified legal support system. </a:t>
            </a:r>
            <a:r>
              <a:rPr b="1" lang="en-IN" sz="1600">
                <a:solidFill>
                  <a:schemeClr val="dk1"/>
                </a:solidFill>
              </a:rPr>
              <a:t>Knowledge retrieval</a:t>
            </a:r>
            <a:r>
              <a:rPr lang="en-IN" sz="1600">
                <a:solidFill>
                  <a:schemeClr val="dk1"/>
                </a:solidFill>
              </a:rPr>
              <a:t> will be handled through Langflow pipelines, which ingest and semantically search legal documents, statutes, regulations, contracts, and case law to provide accurate and context-aware information. </a:t>
            </a:r>
            <a:r>
              <a:rPr b="1" lang="en-IN" sz="1600">
                <a:solidFill>
                  <a:schemeClr val="dk1"/>
                </a:solidFill>
              </a:rPr>
              <a:t>Legal concept explanation</a:t>
            </a:r>
            <a:r>
              <a:rPr lang="en-IN" sz="1600">
                <a:solidFill>
                  <a:schemeClr val="dk1"/>
                </a:solidFill>
              </a:rPr>
              <a:t> will be powered by IBM Models, delivering responses in simple, easy-to-understand language while also providing detailed legal insights for advanced users, making legal knowledge accessible to everyone. </a:t>
            </a:r>
            <a:r>
              <a:rPr b="1" lang="en-IN" sz="1600">
                <a:solidFill>
                  <a:schemeClr val="dk1"/>
                </a:solidFill>
              </a:rPr>
              <a:t>Document analysis and specialized legal support</a:t>
            </a:r>
            <a:r>
              <a:rPr lang="en-IN" sz="1600">
                <a:solidFill>
                  <a:schemeClr val="dk1"/>
                </a:solidFill>
              </a:rPr>
              <a:t> will be coordinated through IBM Orchestrate, enabling multiple AI agents to review contracts, identify risks, verify compliance with applicable regulations, conduct case research, and answer user-specific legal queries. Finally, a </a:t>
            </a:r>
            <a:r>
              <a:rPr b="1" lang="en-IN" sz="1600">
                <a:solidFill>
                  <a:schemeClr val="dk1"/>
                </a:solidFill>
              </a:rPr>
              <a:t>conversational interface</a:t>
            </a:r>
            <a:r>
              <a:rPr lang="en-IN" sz="1600">
                <a:solidFill>
                  <a:schemeClr val="dk1"/>
                </a:solidFill>
              </a:rPr>
              <a:t> will allow users to interact naturally with the assistant by asking legal questions or uploading legal documents, receiving structured summaries, highlighted clauses, compliance recommendations, and relevant legal references. This solution will reduce the time and effort required to understand legal information, improve awareness of legal rights and obligations, and provide practical legal guidance while clearly informing users that the system is intended for informational purposes only and is not a substitute for professional legal advice.</a:t>
            </a:r>
            <a:endParaRPr sz="1600">
              <a:solidFill>
                <a:schemeClr val="dk1"/>
              </a:solidFill>
            </a:endParaRPr>
          </a:p>
          <a:p>
            <a:pPr indent="0" lvl="0" marL="0" marR="0" rtl="0" algn="l">
              <a:lnSpc>
                <a:spcPct val="100000"/>
              </a:lnSpc>
              <a:spcBef>
                <a:spcPts val="1200"/>
              </a:spcBef>
              <a:spcAft>
                <a:spcPts val="0"/>
              </a:spcAft>
              <a:buNone/>
            </a:pPr>
            <a:r>
              <a:t/>
            </a:r>
            <a:endParaRPr b="1" sz="19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
          <p:cNvSpPr txBox="1"/>
          <p:nvPr/>
        </p:nvSpPr>
        <p:spPr>
          <a:xfrm>
            <a:off x="576072" y="704088"/>
            <a:ext cx="72147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Problem Statement - AI Legal Aid Multi-Agent System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576075" y="1234450"/>
            <a:ext cx="11340000" cy="589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500" u="none" cap="none" strike="noStrike">
              <a:solidFill>
                <a:srgbClr val="000000"/>
              </a:solidFill>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IN" sz="1800">
                <a:solidFill>
                  <a:schemeClr val="dk1"/>
                </a:solidFill>
              </a:rPr>
              <a:t>Proposed Solution: AI Legal Aid Multi-Agent System</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600">
                <a:solidFill>
                  <a:schemeClr val="dk1"/>
                </a:solidFill>
              </a:rPr>
              <a:t>The proposed solution for the </a:t>
            </a:r>
            <a:r>
              <a:rPr b="1" lang="en-IN" sz="1600">
                <a:solidFill>
                  <a:schemeClr val="dk1"/>
                </a:solidFill>
              </a:rPr>
              <a:t>AI Legal Aid Multi-Agent System</a:t>
            </a:r>
            <a:r>
              <a:rPr lang="en-IN" sz="1600">
                <a:solidFill>
                  <a:schemeClr val="dk1"/>
                </a:solidFill>
              </a:rPr>
              <a:t> is to design an intelligent, interactive platform that simplifies access to legal information, document analysis, and compliance guidance for individuals and small businesses. The assistant will integrate </a:t>
            </a:r>
            <a:r>
              <a:rPr b="1" lang="en-IN" sz="1600">
                <a:solidFill>
                  <a:schemeClr val="dk1"/>
                </a:solidFill>
              </a:rPr>
              <a:t>IBM Langflow, IBM Orchestrate, and IBM Models</a:t>
            </a:r>
            <a:r>
              <a:rPr lang="en-IN" sz="1600">
                <a:solidFill>
                  <a:schemeClr val="dk1"/>
                </a:solidFill>
              </a:rPr>
              <a:t> to create a unified legal support platform. </a:t>
            </a:r>
            <a:r>
              <a:rPr b="1" lang="en-IN" sz="1600">
                <a:solidFill>
                  <a:schemeClr val="dk1"/>
                </a:solidFill>
              </a:rPr>
              <a:t>Legal knowledge retrieval</a:t>
            </a:r>
            <a:r>
              <a:rPr lang="en-IN" sz="1600">
                <a:solidFill>
                  <a:schemeClr val="dk1"/>
                </a:solidFill>
              </a:rPr>
              <a:t> will be handled by Langflow pipelines, which ingest and semantically search legal statutes, regulations, contracts, policies, and case law to provide accurate, context-aware information. </a:t>
            </a:r>
            <a:r>
              <a:rPr b="1" lang="en-IN" sz="1600">
                <a:solidFill>
                  <a:schemeClr val="dk1"/>
                </a:solidFill>
              </a:rPr>
              <a:t>Legal concept explanation</a:t>
            </a:r>
            <a:r>
              <a:rPr lang="en-IN" sz="1600">
                <a:solidFill>
                  <a:schemeClr val="dk1"/>
                </a:solidFill>
              </a:rPr>
              <a:t> will be powered by IBM Models, delivering responses that range from beginner-friendly summaries to detailed legal interpretations, making complex legal concepts easy to understand for users with varying levels of legal knowledge. </a:t>
            </a:r>
            <a:r>
              <a:rPr b="1" lang="en-IN" sz="1600">
                <a:solidFill>
                  <a:schemeClr val="dk1"/>
                </a:solidFill>
              </a:rPr>
              <a:t>Document analysis and workflow automation</a:t>
            </a:r>
            <a:r>
              <a:rPr lang="en-IN" sz="1600">
                <a:solidFill>
                  <a:schemeClr val="dk1"/>
                </a:solidFill>
              </a:rPr>
              <a:t> will be managed through IBM Orchestrate, enabling specialized AI agents to review contracts, identify risky clauses, verify regulatory compliance, answer user-specific legal questions using Retrieval-Augmented Generation (RAG), and research relevant case precedents. Finally, a </a:t>
            </a:r>
            <a:r>
              <a:rPr b="1" lang="en-IN" sz="1600">
                <a:solidFill>
                  <a:schemeClr val="dk1"/>
                </a:solidFill>
              </a:rPr>
              <a:t>conversational interface</a:t>
            </a:r>
            <a:r>
              <a:rPr lang="en-IN" sz="1600">
                <a:solidFill>
                  <a:schemeClr val="dk1"/>
                </a:solidFill>
              </a:rPr>
              <a:t> will allow users to interact naturally with the assistant by asking legal questions or uploading legal documents, receiving structured summaries, highlighted clauses, compliance recommendations, and relevant legal references through an intuitive dashboard. This solution will reduce the time and cost associated with obtaining basic legal guidance, improve understanding of legal rights and obligations, assist users in identifying potential legal risks, and make legal information more accessible while clearly stating that the assistant provides informational support and is not a substitute for professional legal advice.</a:t>
            </a:r>
            <a:endParaRPr sz="1600">
              <a:solidFill>
                <a:schemeClr val="dk1"/>
              </a:solidFill>
            </a:endParaRPr>
          </a:p>
          <a:p>
            <a:pPr indent="0" lvl="0" marL="0" marR="0" rtl="0" algn="l">
              <a:lnSpc>
                <a:spcPct val="100000"/>
              </a:lnSpc>
              <a:spcBef>
                <a:spcPts val="1200"/>
              </a:spcBef>
              <a:spcAft>
                <a:spcPts val="0"/>
              </a:spcAft>
              <a:buNone/>
            </a:pPr>
            <a:r>
              <a:t/>
            </a:r>
            <a:endParaRPr b="1" sz="1500"/>
          </a:p>
          <a:p>
            <a:pPr indent="0" lvl="0" marL="0" marR="0" rtl="0" algn="l">
              <a:lnSpc>
                <a:spcPct val="100000"/>
              </a:lnSpc>
              <a:spcBef>
                <a:spcPts val="0"/>
              </a:spcBef>
              <a:spcAft>
                <a:spcPts val="0"/>
              </a:spcAft>
              <a:buNone/>
            </a:pPr>
            <a:r>
              <a:t/>
            </a:r>
            <a:endParaRPr b="0" i="0" sz="1500" u="none" cap="none" strike="noStrike">
              <a:solidFill>
                <a:srgbClr val="000000"/>
              </a:solidFill>
              <a:latin typeface="Arial"/>
              <a:ea typeface="Arial"/>
              <a:cs typeface="Arial"/>
              <a:sym typeface="Arial"/>
            </a:endParaRPr>
          </a:p>
        </p:txBody>
      </p:sp>
      <p:sp>
        <p:nvSpPr>
          <p:cNvPr id="101" name="Google Shape;101;p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5"/>
          <p:cNvSpPr txBox="1"/>
          <p:nvPr/>
        </p:nvSpPr>
        <p:spPr>
          <a:xfrm>
            <a:off x="777240" y="1207008"/>
            <a:ext cx="10515600" cy="43407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t/>
            </a:r>
            <a:endParaRPr/>
          </a:p>
          <a:p>
            <a:pPr indent="-342900" lvl="0" marL="342900" marR="0" rtl="0" algn="l">
              <a:lnSpc>
                <a:spcPct val="100000"/>
              </a:lnSpc>
              <a:spcBef>
                <a:spcPts val="0"/>
              </a:spcBef>
              <a:spcAft>
                <a:spcPts val="0"/>
              </a:spcAft>
              <a:buClr>
                <a:srgbClr val="000000"/>
              </a:buClr>
              <a:buSzPts val="1800"/>
              <a:buFont typeface="Arial"/>
              <a:buChar char="•"/>
            </a:pPr>
            <a:r>
              <a:rPr b="1" i="0" lang="en-IN" sz="1800" u="none" cap="none" strike="noStrike">
                <a:solidFill>
                  <a:srgbClr val="000000"/>
                </a:solidFill>
                <a:latin typeface="Arial"/>
                <a:ea typeface="Arial"/>
                <a:cs typeface="Arial"/>
                <a:sym typeface="Arial"/>
              </a:rPr>
              <a:t>IBM Orchestrate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Automates guided troubleshooting flows.</a:t>
            </a:r>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Provides diagnostic support for satellite communication issues.</a:t>
            </a:r>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Helps users follow structured problem-solving steps.</a:t>
            </a:r>
            <a:endParaRPr/>
          </a:p>
          <a:p>
            <a:pPr indent="-342900" lvl="0" marL="342900" marR="0" rtl="0" algn="l">
              <a:lnSpc>
                <a:spcPct val="100000"/>
              </a:lnSpc>
              <a:spcBef>
                <a:spcPts val="0"/>
              </a:spcBef>
              <a:spcAft>
                <a:spcPts val="0"/>
              </a:spcAft>
              <a:buClr>
                <a:srgbClr val="000000"/>
              </a:buClr>
              <a:buSzPts val="1800"/>
              <a:buFont typeface="Arial"/>
              <a:buChar char="•"/>
            </a:pPr>
            <a:r>
              <a:rPr b="1" i="0" lang="en-IN" sz="1800" u="none" cap="none" strike="noStrike">
                <a:solidFill>
                  <a:srgbClr val="000000"/>
                </a:solidFill>
                <a:latin typeface="Arial"/>
                <a:ea typeface="Arial"/>
                <a:cs typeface="Arial"/>
                <a:sym typeface="Arial"/>
              </a:rPr>
              <a:t>IBM Models</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Powers natural language understanding.</a:t>
            </a:r>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Generates simplified explanations of complex concepts (modulation, frequency bands, link budgets).</a:t>
            </a:r>
            <a:endParaRPr/>
          </a:p>
          <a:p>
            <a:pPr indent="-342900" lvl="0" marL="342900" marR="0" rtl="0" algn="l">
              <a:lnSpc>
                <a:spcPct val="100000"/>
              </a:lnSpc>
              <a:spcBef>
                <a:spcPts val="0"/>
              </a:spcBef>
              <a:spcAft>
                <a:spcPts val="0"/>
              </a:spcAft>
              <a:buClr>
                <a:srgbClr val="000000"/>
              </a:buClr>
              <a:buSzPts val="1800"/>
              <a:buFont typeface="Arial"/>
              <a:buChar char="•"/>
            </a:pPr>
            <a:r>
              <a:rPr b="0" i="0" lang="en-IN" sz="1800" u="none" cap="none" strike="noStrike">
                <a:solidFill>
                  <a:srgbClr val="000000"/>
                </a:solidFill>
                <a:latin typeface="Arial"/>
                <a:ea typeface="Arial"/>
                <a:cs typeface="Arial"/>
                <a:sym typeface="Arial"/>
              </a:rPr>
              <a:t>Offers layered responses for both beginners and advanced learners.</a:t>
            </a:r>
            <a:endParaRPr/>
          </a:p>
          <a:p>
            <a:pPr indent="-342900" lvl="0" marL="342900" marR="0" rtl="0" algn="l">
              <a:lnSpc>
                <a:spcPct val="100000"/>
              </a:lnSpc>
              <a:spcBef>
                <a:spcPts val="0"/>
              </a:spcBef>
              <a:spcAft>
                <a:spcPts val="0"/>
              </a:spcAft>
              <a:buClr>
                <a:srgbClr val="000000"/>
              </a:buClr>
              <a:buSzPts val="1800"/>
              <a:buFont typeface="Arial"/>
              <a:buChar char="•"/>
            </a:pPr>
            <a:r>
              <a:rPr b="1" i="0" lang="en-IN" sz="1800" u="none" cap="none" strike="noStrike">
                <a:solidFill>
                  <a:srgbClr val="000000"/>
                </a:solidFill>
                <a:latin typeface="Arial"/>
                <a:ea typeface="Arial"/>
                <a:cs typeface="Arial"/>
                <a:sym typeface="Arial"/>
              </a:rPr>
              <a:t>IBM Watsonx.ai - </a:t>
            </a:r>
            <a:r>
              <a:rPr b="0" i="0" lang="en-IN" sz="1800" u="none" cap="none" strike="noStrike">
                <a:solidFill>
                  <a:srgbClr val="000000"/>
                </a:solidFill>
                <a:latin typeface="Arial"/>
                <a:ea typeface="Arial"/>
                <a:cs typeface="Arial"/>
                <a:sym typeface="Arial"/>
              </a:rPr>
              <a:t>For model deployment, embeddings, and AI governance</a:t>
            </a:r>
            <a:endParaRPr/>
          </a:p>
          <a:p>
            <a:pPr indent="0" lvl="0" marL="45720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6"/>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Orchestrate component Used -</a:t>
            </a:r>
            <a:endParaRPr b="1" i="0" sz="2400" u="none" cap="none" strike="noStrike">
              <a:solidFill>
                <a:srgbClr val="000000"/>
              </a:solidFill>
              <a:latin typeface="Arial"/>
              <a:ea typeface="Arial"/>
              <a:cs typeface="Arial"/>
              <a:sym typeface="Arial"/>
            </a:endParaRPr>
          </a:p>
        </p:txBody>
      </p:sp>
      <p:sp>
        <p:nvSpPr>
          <p:cNvPr id="113" name="Google Shape;113;p6"/>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6"/>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6"/>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6"/>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6"/>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6"/>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6"/>
          <p:cNvSpPr txBox="1"/>
          <p:nvPr/>
        </p:nvSpPr>
        <p:spPr>
          <a:xfrm>
            <a:off x="474822" y="863187"/>
            <a:ext cx="9557699" cy="6340197"/>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1) Chat Input </a:t>
            </a:r>
            <a:r>
              <a:rPr b="0" i="0" lang="en-IN" sz="1400" u="none" cap="none" strike="noStrike">
                <a:solidFill>
                  <a:srgbClr val="000000"/>
                </a:solidFill>
                <a:latin typeface="Arial"/>
                <a:ea typeface="Arial"/>
                <a:cs typeface="Arial"/>
                <a:sym typeface="Arial"/>
              </a:rPr>
              <a:t>– Interface where users enter their queries about satellite communication (text/voice).</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2) IBM watsonx AI Agent </a:t>
            </a:r>
            <a:r>
              <a:rPr b="0" i="0" lang="en-IN" sz="1400" u="none" cap="none" strike="noStrike">
                <a:solidFill>
                  <a:srgbClr val="000000"/>
                </a:solidFill>
                <a:latin typeface="Arial"/>
                <a:ea typeface="Arial"/>
                <a:cs typeface="Arial"/>
                <a:sym typeface="Arial"/>
              </a:rPr>
              <a:t>- Processes user input using Granite models to generate satellite communication and recommendations. </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3) Name of IBM Granite model - </a:t>
            </a:r>
            <a:r>
              <a:rPr b="0" i="0" lang="en-IN" sz="1400" u="none" cap="none" strike="noStrike">
                <a:solidFill>
                  <a:srgbClr val="000000"/>
                </a:solidFill>
                <a:latin typeface="Arial"/>
                <a:ea typeface="Arial"/>
                <a:cs typeface="Arial"/>
                <a:sym typeface="Arial"/>
              </a:rPr>
              <a:t>Granite-4.0-8B-Instruct → Fast, efficient for real-time satellite communication  recommendations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Document Loader</a:t>
            </a:r>
            <a:r>
              <a:rPr b="0" i="0" lang="en-IN" sz="1400" u="none" cap="none" strike="noStrike">
                <a:solidFill>
                  <a:srgbClr val="000000"/>
                </a:solidFill>
                <a:latin typeface="Arial"/>
                <a:ea typeface="Arial"/>
                <a:cs typeface="Arial"/>
                <a:sym typeface="Arial"/>
              </a:rPr>
              <a:t> – Loads textbooks, research papers, and technical documentation into the system for knowledge ingestion.</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LLM Chain</a:t>
            </a:r>
            <a:r>
              <a:rPr b="0" i="0" lang="en-IN" sz="1400" u="none" cap="none" strike="noStrike">
                <a:solidFill>
                  <a:srgbClr val="000000"/>
                </a:solidFill>
                <a:latin typeface="Arial"/>
                <a:ea typeface="Arial"/>
                <a:cs typeface="Arial"/>
                <a:sym typeface="Arial"/>
              </a:rPr>
              <a:t> – Connects the language model with retrieved knowledge to generate simplified explanations of complex concepts.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Conversational Chain</a:t>
            </a:r>
            <a:r>
              <a:rPr b="0" i="0" lang="en-IN" sz="1400" u="none" cap="none" strike="noStrike">
                <a:solidFill>
                  <a:srgbClr val="000000"/>
                </a:solidFill>
                <a:latin typeface="Arial"/>
                <a:ea typeface="Arial"/>
                <a:cs typeface="Arial"/>
                <a:sym typeface="Arial"/>
              </a:rPr>
              <a:t> – Maintains context across multiple queries, enabling interactive and session-based responses.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Prompt Template</a:t>
            </a:r>
            <a:r>
              <a:rPr b="0" i="0" lang="en-IN" sz="1400" u="none" cap="none" strike="noStrike">
                <a:solidFill>
                  <a:srgbClr val="000000"/>
                </a:solidFill>
                <a:latin typeface="Arial"/>
                <a:ea typeface="Arial"/>
                <a:cs typeface="Arial"/>
                <a:sym typeface="Arial"/>
              </a:rPr>
              <a:t> – Structures user queries for consistent processing and ensures domain-specific responses.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IN" sz="1400" u="none" cap="none" strike="noStrike">
                <a:solidFill>
                  <a:srgbClr val="000000"/>
                </a:solidFill>
                <a:latin typeface="Arial"/>
                <a:ea typeface="Arial"/>
                <a:cs typeface="Arial"/>
                <a:sym typeface="Arial"/>
              </a:rPr>
              <a:t>Output Parser</a:t>
            </a:r>
            <a:r>
              <a:rPr b="0" i="0" lang="en-IN" sz="1400" u="none" cap="none" strike="noStrike">
                <a:solidFill>
                  <a:srgbClr val="000000"/>
                </a:solidFill>
                <a:latin typeface="Arial"/>
                <a:ea typeface="Arial"/>
                <a:cs typeface="Arial"/>
                <a:sym typeface="Arial"/>
              </a:rPr>
              <a:t> – Formats AI-generated responses into user-friendly text, diagrams, or troubleshooting steps.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n-I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p:nvPr/>
        </p:nvSpPr>
        <p:spPr>
          <a:xfrm>
            <a:off x="537590" y="381112"/>
            <a:ext cx="7616194" cy="39063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Agent Instructions Screenshot-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pic>
        <p:nvPicPr>
          <p:cNvPr id="125" name="Google Shape;125;p7"/>
          <p:cNvPicPr preferRelativeResize="0"/>
          <p:nvPr/>
        </p:nvPicPr>
        <p:blipFill>
          <a:blip r:embed="rId3">
            <a:alphaModFix/>
          </a:blip>
          <a:stretch>
            <a:fillRect/>
          </a:stretch>
        </p:blipFill>
        <p:spPr>
          <a:xfrm>
            <a:off x="743313" y="933338"/>
            <a:ext cx="10705374" cy="4991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p:nvPr/>
        </p:nvSpPr>
        <p:spPr>
          <a:xfrm>
            <a:off x="537590" y="381112"/>
            <a:ext cx="7616194" cy="39063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Prompt with output Screenshot: </a:t>
            </a:r>
            <a:endParaRPr b="0" i="0" sz="1400" u="none" cap="none" strike="noStrike">
              <a:solidFill>
                <a:srgbClr val="000000"/>
              </a:solidFill>
              <a:latin typeface="Arial"/>
              <a:ea typeface="Arial"/>
              <a:cs typeface="Arial"/>
              <a:sym typeface="Arial"/>
            </a:endParaRPr>
          </a:p>
        </p:txBody>
      </p:sp>
      <p:pic>
        <p:nvPicPr>
          <p:cNvPr id="131" name="Google Shape;131;p8"/>
          <p:cNvPicPr preferRelativeResize="0"/>
          <p:nvPr/>
        </p:nvPicPr>
        <p:blipFill>
          <a:blip r:embed="rId3">
            <a:alphaModFix/>
          </a:blip>
          <a:stretch>
            <a:fillRect/>
          </a:stretch>
        </p:blipFill>
        <p:spPr>
          <a:xfrm>
            <a:off x="799375" y="914562"/>
            <a:ext cx="10593226" cy="50288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p:nvPr/>
        </p:nvSpPr>
        <p:spPr>
          <a:xfrm>
            <a:off x="537590" y="381112"/>
            <a:ext cx="7616194" cy="39063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Prompt with output Screenshot: </a:t>
            </a:r>
            <a:endParaRPr b="0" i="0" sz="1400" u="none" cap="none" strike="noStrike">
              <a:solidFill>
                <a:srgbClr val="000000"/>
              </a:solidFill>
              <a:latin typeface="Arial"/>
              <a:ea typeface="Arial"/>
              <a:cs typeface="Arial"/>
              <a:sym typeface="Arial"/>
            </a:endParaRPr>
          </a:p>
        </p:txBody>
      </p:sp>
      <p:pic>
        <p:nvPicPr>
          <p:cNvPr id="137" name="Google Shape;137;p9"/>
          <p:cNvPicPr preferRelativeResize="0"/>
          <p:nvPr/>
        </p:nvPicPr>
        <p:blipFill>
          <a:blip r:embed="rId3">
            <a:alphaModFix/>
          </a:blip>
          <a:stretch>
            <a:fillRect/>
          </a:stretch>
        </p:blipFill>
        <p:spPr>
          <a:xfrm>
            <a:off x="673326" y="862663"/>
            <a:ext cx="10845352" cy="51326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Prompt with output Screenshot: </a:t>
            </a:r>
            <a:endParaRPr b="1" i="0" sz="2400" u="none" cap="none" strike="noStrike">
              <a:solidFill>
                <a:srgbClr val="000000"/>
              </a:solidFill>
              <a:latin typeface="Arial"/>
              <a:ea typeface="Arial"/>
              <a:cs typeface="Arial"/>
              <a:sym typeface="Arial"/>
            </a:endParaRPr>
          </a:p>
        </p:txBody>
      </p:sp>
      <p:pic>
        <p:nvPicPr>
          <p:cNvPr id="143" name="Google Shape;143;p10"/>
          <p:cNvPicPr preferRelativeResize="0"/>
          <p:nvPr/>
        </p:nvPicPr>
        <p:blipFill>
          <a:blip r:embed="rId3">
            <a:alphaModFix/>
          </a:blip>
          <a:stretch>
            <a:fillRect/>
          </a:stretch>
        </p:blipFill>
        <p:spPr>
          <a:xfrm>
            <a:off x="691550" y="875250"/>
            <a:ext cx="10808899" cy="51075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chemeClr val="dk1"/>
                </a:solidFill>
                <a:latin typeface="Calibri"/>
                <a:ea typeface="Calibri"/>
                <a:cs typeface="Calibri"/>
                <a:sym typeface="Calibri"/>
              </a:rPr>
              <a:t>Orchestrate architecture blueprint</a:t>
            </a:r>
            <a:endParaRPr b="0" i="0" sz="2400" u="none" cap="none" strike="noStrike">
              <a:solidFill>
                <a:schemeClr val="dk1"/>
              </a:solidFill>
              <a:latin typeface="Arial"/>
              <a:ea typeface="Arial"/>
              <a:cs typeface="Arial"/>
              <a:sym typeface="Arial"/>
            </a:endParaRPr>
          </a:p>
        </p:txBody>
      </p:sp>
      <p:pic>
        <p:nvPicPr>
          <p:cNvPr id="149" name="Google Shape;149;p11"/>
          <p:cNvPicPr preferRelativeResize="0"/>
          <p:nvPr/>
        </p:nvPicPr>
        <p:blipFill rotWithShape="1">
          <a:blip r:embed="rId3">
            <a:alphaModFix/>
          </a:blip>
          <a:srcRect b="0" l="0" r="0" t="0"/>
          <a:stretch/>
        </p:blipFill>
        <p:spPr>
          <a:xfrm>
            <a:off x="1659864" y="853775"/>
            <a:ext cx="8079358" cy="538623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2"/>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55" name="Google Shape;155;p12"/>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56" name="Google Shape;156;p12"/>
          <p:cNvSpPr txBox="1"/>
          <p:nvPr/>
        </p:nvSpPr>
        <p:spPr>
          <a:xfrm>
            <a:off x="621800" y="1167500"/>
            <a:ext cx="7406700" cy="5123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None/>
            </a:pPr>
            <a:r>
              <a:rPr b="1" lang="en-IN" sz="1800">
                <a:solidFill>
                  <a:schemeClr val="dk1"/>
                </a:solidFill>
              </a:rPr>
              <a:t>Role of Agentic AI in AI Legal Aid Multi-Agent System</a:t>
            </a:r>
            <a:endParaRPr b="1" sz="1800">
              <a:solidFill>
                <a:schemeClr val="dk1"/>
              </a:solidFill>
            </a:endParaRPr>
          </a:p>
          <a:p>
            <a:pPr indent="0" lvl="0" marL="0" rtl="0" algn="l">
              <a:lnSpc>
                <a:spcPct val="115000"/>
              </a:lnSpc>
              <a:spcBef>
                <a:spcPts val="1200"/>
              </a:spcBef>
              <a:spcAft>
                <a:spcPts val="0"/>
              </a:spcAft>
              <a:buNone/>
            </a:pPr>
            <a:r>
              <a:rPr lang="en-IN" sz="1300">
                <a:solidFill>
                  <a:schemeClr val="dk1"/>
                </a:solidFill>
              </a:rPr>
              <a:t>The role of </a:t>
            </a:r>
            <a:r>
              <a:rPr b="1" lang="en-IN" sz="1300">
                <a:solidFill>
                  <a:schemeClr val="dk1"/>
                </a:solidFill>
              </a:rPr>
              <a:t>Agentic AI</a:t>
            </a:r>
            <a:r>
              <a:rPr lang="en-IN" sz="1300">
                <a:solidFill>
                  <a:schemeClr val="dk1"/>
                </a:solidFill>
              </a:rPr>
              <a:t> in the </a:t>
            </a:r>
            <a:r>
              <a:rPr b="1" lang="en-IN" sz="1300">
                <a:solidFill>
                  <a:schemeClr val="dk1"/>
                </a:solidFill>
              </a:rPr>
              <a:t>AI Legal Aid Multi-Agent System</a:t>
            </a:r>
            <a:r>
              <a:rPr lang="en-IN" sz="1300">
                <a:solidFill>
                  <a:schemeClr val="dk1"/>
                </a:solidFill>
              </a:rPr>
              <a:t> is to make the platform proactive, intelligent, and collaborative rather than simply responding to user queries. It autonomously retrieves relevant legal information, coordinates specialized AI agents, analyzes legal documents, and delivers context-aware guidance while maintaining the flow of the conversation.</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IN" sz="1300">
                <a:solidFill>
                  <a:schemeClr val="dk1"/>
                </a:solidFill>
              </a:rPr>
              <a:t>Legal Knowledge Retrieval</a:t>
            </a:r>
            <a:r>
              <a:rPr lang="en-IN" sz="1300">
                <a:solidFill>
                  <a:schemeClr val="dk1"/>
                </a:solidFill>
              </a:rPr>
              <a:t> – Actively searches and prioritizes the most relevant laws, regulations, legal precedents, and case judgments using Retrieval-Augmented Generation (RAG).</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IN" sz="1300">
                <a:solidFill>
                  <a:schemeClr val="dk1"/>
                </a:solidFill>
              </a:rPr>
              <a:t>Contract Review &amp; Risk Analysis</a:t>
            </a:r>
            <a:r>
              <a:rPr lang="en-IN" sz="1300">
                <a:solidFill>
                  <a:schemeClr val="dk1"/>
                </a:solidFill>
              </a:rPr>
              <a:t> – Automatically analyzes contracts and legal documents to identify risky clauses, obligations, inconsistencies, and ambiguous language.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IN" sz="1300">
                <a:solidFill>
                  <a:schemeClr val="dk1"/>
                </a:solidFill>
              </a:rPr>
              <a:t>Compliance Verification</a:t>
            </a:r>
            <a:r>
              <a:rPr lang="en-IN" sz="1300">
                <a:solidFill>
                  <a:schemeClr val="dk1"/>
                </a:solidFill>
              </a:rPr>
              <a:t> – Evaluates uploaded documents against applicable laws and regulations, identifies compliance gaps, and suggests corrective actions.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IN" sz="1300">
                <a:solidFill>
                  <a:schemeClr val="dk1"/>
                </a:solidFill>
              </a:rPr>
              <a:t>Case Research &amp; Decision Support</a:t>
            </a:r>
            <a:r>
              <a:rPr lang="en-IN" sz="1300">
                <a:solidFill>
                  <a:schemeClr val="dk1"/>
                </a:solidFill>
              </a:rPr>
              <a:t> – Retrieves relevant court cases, legal precedents, and regulatory references to provide users with accurate, context-aware legal insights and recommendations.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IN" sz="1300">
                <a:solidFill>
                  <a:schemeClr val="dk1"/>
                </a:solidFill>
              </a:rPr>
              <a:t>Conversational Legal Assistance</a:t>
            </a:r>
            <a:r>
              <a:rPr lang="en-IN" sz="1300">
                <a:solidFill>
                  <a:schemeClr val="dk1"/>
                </a:solidFill>
              </a:rPr>
              <a:t> – Maintains context throughout multi-turn conversations, explains legal concepts in simple language, asks clarifying questions when necessary, and provides structured guidance while clearly stating that the information is for educational purposes only and not a substitute for professional legal advice.</a:t>
            </a:r>
            <a:endParaRPr sz="1300">
              <a:solidFill>
                <a:schemeClr val="dk1"/>
              </a:solidFill>
            </a:endParaRPr>
          </a:p>
          <a:p>
            <a:pPr indent="-304800" lvl="0" marL="285750" marR="0" rtl="0" algn="l">
              <a:lnSpc>
                <a:spcPct val="100000"/>
              </a:lnSpc>
              <a:spcBef>
                <a:spcPts val="0"/>
              </a:spcBef>
              <a:spcAft>
                <a:spcPts val="0"/>
              </a:spcAft>
              <a:buSzPts val="1700"/>
              <a:buChar char="•"/>
            </a:pPr>
            <a:r>
              <a:t/>
            </a:r>
            <a:endParaRPr b="1" sz="1700"/>
          </a:p>
          <a:p>
            <a:pPr indent="0" lvl="0" marL="0" marR="0" rtl="0" algn="l">
              <a:lnSpc>
                <a:spcPct val="100000"/>
              </a:lnSpc>
              <a:spcBef>
                <a:spcPts val="0"/>
              </a:spcBef>
              <a:spcAft>
                <a:spcPts val="0"/>
              </a:spcAft>
              <a:buNone/>
            </a:pPr>
            <a:r>
              <a:t/>
            </a:r>
            <a:endParaRPr b="1" i="0" sz="15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62" name="Google Shape;162;p13"/>
          <p:cNvSpPr txBox="1"/>
          <p:nvPr/>
        </p:nvSpPr>
        <p:spPr>
          <a:xfrm>
            <a:off x="777241" y="1207008"/>
            <a:ext cx="10111800" cy="3779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None/>
            </a:pPr>
            <a:r>
              <a:rPr b="1" lang="en-IN" sz="1700">
                <a:solidFill>
                  <a:schemeClr val="dk1"/>
                </a:solidFill>
              </a:rPr>
              <a:t>Novelty and Uniqueness of the AI Legal Aid Multi-Agent System</a:t>
            </a:r>
            <a:endParaRPr b="1" sz="1700">
              <a:solidFill>
                <a:schemeClr val="dk1"/>
              </a:solidFill>
            </a:endParaRPr>
          </a:p>
          <a:p>
            <a:pPr indent="0" lvl="0" marL="0" rtl="0" algn="l">
              <a:lnSpc>
                <a:spcPct val="115000"/>
              </a:lnSpc>
              <a:spcBef>
                <a:spcPts val="1200"/>
              </a:spcBef>
              <a:spcAft>
                <a:spcPts val="0"/>
              </a:spcAft>
              <a:buNone/>
            </a:pPr>
            <a:r>
              <a:rPr lang="en-IN">
                <a:solidFill>
                  <a:schemeClr val="dk1"/>
                </a:solidFill>
              </a:rPr>
              <a:t>The novelty and uniqueness of the </a:t>
            </a:r>
            <a:r>
              <a:rPr b="1" lang="en-IN">
                <a:solidFill>
                  <a:schemeClr val="dk1"/>
                </a:solidFill>
              </a:rPr>
              <a:t>AI Legal Aid Multi-Agent System</a:t>
            </a:r>
            <a:r>
              <a:rPr lang="en-IN">
                <a:solidFill>
                  <a:schemeClr val="dk1"/>
                </a:solidFill>
              </a:rPr>
              <a:t> lies in transforming complex legal information into an intelligent, interactive, and accessible platform for legal guidance and document analysis.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rPr>
              <a:t>Unified Legal Retrieval</a:t>
            </a:r>
            <a:r>
              <a:rPr lang="en-IN">
                <a:solidFill>
                  <a:schemeClr val="dk1"/>
                </a:solidFill>
              </a:rPr>
              <a:t> – Consolidates laws, regulations, contracts, and case judgments into one AI-powered platform using RAG.</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rPr>
              <a:t>Smart Document Analysis</a:t>
            </a:r>
            <a:r>
              <a:rPr lang="en-IN">
                <a:solidFill>
                  <a:schemeClr val="dk1"/>
                </a:solidFill>
              </a:rPr>
              <a:t> – Reviews contracts and policies, highlighting key clauses, obligations, and potential legal risks automatically.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rPr>
              <a:t>Agentic Legal Assistance</a:t>
            </a:r>
            <a:r>
              <a:rPr lang="en-IN">
                <a:solidFill>
                  <a:schemeClr val="dk1"/>
                </a:solidFill>
              </a:rPr>
              <a:t> – Coordinates specialized AI agents for contract review, compliance checks, legal research, and user-specific Q&amp;A.</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rPr>
              <a:t>Context-Aware Conversations</a:t>
            </a:r>
            <a:r>
              <a:rPr lang="en-IN">
                <a:solidFill>
                  <a:schemeClr val="dk1"/>
                </a:solidFill>
              </a:rPr>
              <a:t> – Maintains conversation context, explains legal concepts in simple language, and provides personalized guidance.</a:t>
            </a:r>
            <a:endParaRPr>
              <a:solidFill>
                <a:schemeClr val="dk1"/>
              </a:solidFill>
            </a:endParaRPr>
          </a:p>
          <a:p>
            <a:pPr indent="0" lvl="0" marL="457200" marR="0" rtl="0" algn="l">
              <a:lnSpc>
                <a:spcPct val="100000"/>
              </a:lnSpc>
              <a:spcBef>
                <a:spcPts val="1200"/>
              </a:spcBef>
              <a:spcAft>
                <a:spcPts val="0"/>
              </a:spcAft>
              <a:buNone/>
            </a:pPr>
            <a:r>
              <a:t/>
            </a:r>
            <a:endParaRPr sz="15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IN"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68" name="Google Shape;168;p14"/>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IN" sz="1850">
                <a:solidFill>
                  <a:srgbClr val="2B3541"/>
                </a:solidFill>
                <a:latin typeface="Times New Roman"/>
                <a:ea typeface="Times New Roman"/>
                <a:cs typeface="Times New Roman"/>
                <a:sym typeface="Times New Roman"/>
              </a:rPr>
              <a:t>https://github.com/umeirp3636-ux/AI-Legal-Aid-Multi-Agent-System</a:t>
            </a:r>
            <a:endParaRPr b="0" i="0" sz="1850" u="none" cap="none" strike="noStrike">
              <a:solidFill>
                <a:srgbClr val="000000"/>
              </a:solidFill>
              <a:latin typeface="Times New Roman"/>
              <a:ea typeface="Times New Roman"/>
              <a:cs typeface="Times New Roman"/>
              <a:sym typeface="Times New Roman"/>
            </a:endParaRPr>
          </a:p>
        </p:txBody>
      </p:sp>
      <p:sp>
        <p:nvSpPr>
          <p:cNvPr id="169" name="Google Shape;169;p14"/>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14"/>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1" name="Google Shape;171;p14"/>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IN"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77" name="Google Shape;177;p15"/>
          <p:cNvSpPr/>
          <p:nvPr/>
        </p:nvSpPr>
        <p:spPr>
          <a:xfrm>
            <a:off x="1218725" y="1221725"/>
            <a:ext cx="9983400" cy="45921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1200"/>
              </a:spcBef>
              <a:spcAft>
                <a:spcPts val="0"/>
              </a:spcAft>
              <a:buClr>
                <a:schemeClr val="dk1"/>
              </a:buClr>
              <a:buSzPts val="1600"/>
              <a:buAutoNum type="arabicPeriod"/>
            </a:pPr>
            <a:r>
              <a:rPr b="1" lang="en-IN" sz="1600">
                <a:solidFill>
                  <a:schemeClr val="dk1"/>
                </a:solidFill>
              </a:rPr>
              <a:t>Advanced AI Integration</a:t>
            </a:r>
            <a:r>
              <a:rPr lang="en-IN" sz="1600">
                <a:solidFill>
                  <a:schemeClr val="dk1"/>
                </a:solidFill>
              </a:rPr>
              <a:t> – Leveraging more powerful IBM Granite models for deeper legal reasoning, case analysis, and contextual legal assistance.</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Multimodal Support</a:t>
            </a:r>
            <a:r>
              <a:rPr lang="en-IN" sz="1600">
                <a:solidFill>
                  <a:schemeClr val="dk1"/>
                </a:solidFill>
              </a:rPr>
              <a:t> – Expanding beyond text to support voice queries, document scanning, and image-based legal document analysis.</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Personalized Legal Guidance</a:t>
            </a:r>
            <a:r>
              <a:rPr lang="en-IN" sz="1600">
                <a:solidFill>
                  <a:schemeClr val="dk1"/>
                </a:solidFill>
              </a:rPr>
              <a:t> – Tailoring responses and recommendations based on user profiles such as individuals, businesses, students, or legal professionals.</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Real-Time Legal Updates</a:t>
            </a:r>
            <a:r>
              <a:rPr lang="en-IN" sz="1600">
                <a:solidFill>
                  <a:schemeClr val="dk1"/>
                </a:solidFill>
              </a:rPr>
              <a:t> – Integrating with live legal databases to provide the latest laws, regulations, court judgments, and policy changes.</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Government &amp; e-Governance Integration</a:t>
            </a:r>
            <a:r>
              <a:rPr lang="en-IN" sz="1600">
                <a:solidFill>
                  <a:schemeClr val="dk1"/>
                </a:solidFill>
              </a:rPr>
              <a:t> – Connecting with digital government services for document verification, legal forms, and citizen support.</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Global Legal Knowledge</a:t>
            </a:r>
            <a:r>
              <a:rPr lang="en-IN" sz="1600">
                <a:solidFill>
                  <a:schemeClr val="dk1"/>
                </a:solidFill>
              </a:rPr>
              <a:t> – Supporting multiple jurisdictions and languages to provide legal assistance across different countries.</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IN" sz="1600">
                <a:solidFill>
                  <a:schemeClr val="dk1"/>
                </a:solidFill>
              </a:rPr>
              <a:t>Continuous Knowledge Expansion</a:t>
            </a:r>
            <a:r>
              <a:rPr lang="en-IN" sz="1600">
                <a:solidFill>
                  <a:schemeClr val="dk1"/>
                </a:solidFill>
              </a:rPr>
              <a:t> – Automatically updating the knowledge base with new legislation, judicial precedents, and legal research publications.</a:t>
            </a:r>
            <a:endParaRPr sz="1600">
              <a:solidFill>
                <a:schemeClr val="dk1"/>
              </a:solidFill>
            </a:endParaRPr>
          </a:p>
          <a:p>
            <a:pPr indent="0" lvl="0" marL="457200" marR="0" rtl="0" algn="l">
              <a:lnSpc>
                <a:spcPct val="100000"/>
              </a:lnSpc>
              <a:spcBef>
                <a:spcPts val="1200"/>
              </a:spcBef>
              <a:spcAft>
                <a:spcPts val="0"/>
              </a:spcAft>
              <a:buNone/>
            </a:pPr>
            <a:r>
              <a:t/>
            </a:r>
            <a:endParaRPr b="1" sz="2100"/>
          </a:p>
          <a:p>
            <a:pPr indent="-339725" lvl="0" marL="457200" marR="0" rtl="0" algn="l">
              <a:lnSpc>
                <a:spcPct val="162162"/>
              </a:lnSpc>
              <a:spcBef>
                <a:spcPts val="0"/>
              </a:spcBef>
              <a:spcAft>
                <a:spcPts val="0"/>
              </a:spcAft>
              <a:buClr>
                <a:srgbClr val="2B3541"/>
              </a:buClr>
              <a:buSzPts val="1850"/>
              <a:buFont typeface="Arial"/>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78" name="Google Shape;178;p15"/>
          <p:cNvSpPr/>
          <p:nvPr/>
        </p:nvSpPr>
        <p:spPr>
          <a:xfrm>
            <a:off x="1218724" y="3360191"/>
            <a:ext cx="74685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15"/>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0" name="Google Shape;180;p15"/>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IN"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6" name="Google Shape;186;p16"/>
          <p:cNvPicPr preferRelativeResize="0"/>
          <p:nvPr/>
        </p:nvPicPr>
        <p:blipFill>
          <a:blip r:embed="rId3">
            <a:alphaModFix/>
          </a:blip>
          <a:stretch>
            <a:fillRect/>
          </a:stretch>
        </p:blipFill>
        <p:spPr>
          <a:xfrm>
            <a:off x="2453325" y="712313"/>
            <a:ext cx="7285350" cy="54333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7"/>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Certificates Earned:</a:t>
            </a:r>
            <a:r>
              <a:rPr b="0" i="0" lang="en-IN"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92" name="Google Shape;192;p17"/>
          <p:cNvPicPr preferRelativeResize="0"/>
          <p:nvPr/>
        </p:nvPicPr>
        <p:blipFill>
          <a:blip r:embed="rId3">
            <a:alphaModFix/>
          </a:blip>
          <a:stretch>
            <a:fillRect/>
          </a:stretch>
        </p:blipFill>
        <p:spPr>
          <a:xfrm rot="5400000">
            <a:off x="3346250" y="-78537"/>
            <a:ext cx="5499500" cy="759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8"/>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